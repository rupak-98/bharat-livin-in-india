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3200400" cy="3200400"/>
          </a:xfrm>
          <a:prstGeom prst="ellipse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4892040"/>
            <a:ext cx="2194560" cy="2194560"/>
          </a:xfrm>
          <a:prstGeom prst="ellipse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85800" y="5257800"/>
            <a:ext cx="2194560" cy="2194560"/>
          </a:xfrm>
          <a:prstGeom prst="ellipse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438912"/>
            <a:ext cx="4709160" cy="384048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502920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SMART INDIA HACKATHON • GAMES &amp; TOYS • IPR-ORIENTED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BHARAT: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4A623"/>
                </a:solidFill>
                <a:latin typeface="Aptos"/>
              </a:rPr>
              <a:t>LIVIN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6400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8C9DE"/>
                </a:solidFill>
                <a:latin typeface="Aptos"/>
              </a:rPr>
              <a:t>An India-centric mobile life-simulation game where players experience education, careers, finances, relationships, migration and major life events through meaningful choices and evolving consequences.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ADA3"/>
                </a:solidFill>
                <a:latin typeface="Aptos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96512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 dynamic life engine that connects player state + regional context + validated socio-economic data to shape branching life-event probabilities.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170432"/>
            <a:ext cx="4160520" cy="4343400"/>
          </a:xfrm>
          <a:prstGeom prst="roundRect">
            <a:avLst/>
          </a:prstGeom>
          <a:solidFill>
            <a:srgbClr val="10223B"/>
          </a:solidFill>
          <a:ln w="15240">
            <a:solidFill>
              <a:srgbClr val="344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2672" y="1481328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623"/>
                </a:solidFill>
                <a:latin typeface="Aptos"/>
              </a:rPr>
              <a:t>PROJECT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9659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Rupak Kumar Dey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295144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8C9DE"/>
                </a:solidFill>
                <a:latin typeface="Aptos"/>
              </a:rPr>
              <a:t>Concept &amp; Complete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752344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Jayanti Mishra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3081527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8C9DE"/>
                </a:solidFill>
                <a:latin typeface="Aptos"/>
              </a:rPr>
              <a:t>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3538727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Priya Kumari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867911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8C9DE"/>
                </a:solidFill>
                <a:latin typeface="Aptos"/>
              </a:rPr>
              <a:t>Team 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4325112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Harsh Thakur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4654296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8C9DE"/>
                </a:solidFill>
                <a:latin typeface="Aptos"/>
              </a:rPr>
              <a:t>Team Member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2672" y="4965192"/>
            <a:ext cx="3429000" cy="22860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2" y="5093208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ADA3"/>
                </a:solidFill>
                <a:latin typeface="Aptos"/>
              </a:rPr>
              <a:t>Complete concept / idea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5376672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Rupak Kumar Dey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0819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8C9DE"/>
                </a:solidFill>
                <a:latin typeface="Aptos"/>
              </a:rPr>
              <a:t>Coordinator Pitch • Design Thinking + Invention Disclosure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8C9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91426"/>
                </a:solidFill>
                <a:latin typeface="Aptos"/>
              </a:rPr>
              <a:t>The Problem: Indian life is complex — existing life-sims are mostly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856" y="1142999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67488"/>
                </a:solidFill>
                <a:latin typeface="Aptos"/>
              </a:rPr>
              <a:t>Design-thinking report + invention disclosure converge on the same technical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874519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01  CONTEXT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84831"/>
            <a:ext cx="3127248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Existing life-simulation titles referenced in the study are built around Western/US systems and do not adequately represent Indian education, jobs, family structures and regional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64008" cy="1874519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673351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02  DATA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84831"/>
            <a:ext cx="3127248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Indian socio-economic information is fragmented across sources and can appear in heterogeneous, sometimes non-machine-readable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64008" cy="1874519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673351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03  GAMEPLAY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84831"/>
            <a:ext cx="3127248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Static, pre-scripted outcomes can feel repetitive or arbitrary. Players want uncertainty — but also understandable, meaningful consequences.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1D2"/>
                </a:solidFill>
                <a:latin typeface="Aptos"/>
              </a:rPr>
              <a:t>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91426"/>
                </a:solidFill>
                <a:latin typeface="Aptos"/>
              </a:rPr>
              <a:t>No dedicated mechanism currently connects fragmented Indian socio-economic signals → normalized data → changing life-event probabilities → a branching narrative.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2514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193792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STATIC SCRIPTS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5166360"/>
            <a:ext cx="2514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5193792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GENERIC 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166360"/>
            <a:ext cx="2514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5193792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REGIONAL VARIATION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5166360"/>
            <a:ext cx="2514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59" y="5193792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OPAQUE RANDOMNESS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488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6748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Design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1D6"/>
                </a:solidFill>
                <a:latin typeface="Aptos"/>
              </a:rPr>
              <a:t>The breakthrough is not “more Indian content” — it is a dynamic relationship between player state, region and real-world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943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INDIAN REALISM SHOULD BE GENERATED,
NOT JUST AUTHORED.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3464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3D3E6"/>
                </a:solidFill>
                <a:latin typeface="Aptos"/>
              </a:rPr>
              <a:t>The design-thinking report repeatedly narrows the opportunity toward a proprietary probability-calibration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1828800" cy="731520"/>
          </a:xfrm>
          <a:prstGeom prst="roundRect">
            <a:avLst/>
          </a:prstGeom>
          <a:solidFill>
            <a:srgbClr val="10223B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5819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PLAYER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17320"/>
            <a:ext cx="1828800" cy="731520"/>
          </a:xfrm>
          <a:prstGeom prst="roundRect">
            <a:avLst/>
          </a:prstGeom>
          <a:solidFill>
            <a:srgbClr val="10223B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0" y="15819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743200"/>
            <a:ext cx="1828800" cy="731520"/>
          </a:xfrm>
          <a:prstGeom prst="roundRect">
            <a:avLst/>
          </a:prstGeom>
          <a:solidFill>
            <a:srgbClr val="10223B"/>
          </a:solidFill>
          <a:ln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9077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VALIDATED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743200"/>
            <a:ext cx="1828800" cy="731520"/>
          </a:xfrm>
          <a:prstGeom prst="roundRect">
            <a:avLst/>
          </a:prstGeom>
          <a:solidFill>
            <a:srgbClr val="10223B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9077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CALIBRATION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160520"/>
            <a:ext cx="1828800" cy="731520"/>
          </a:xfrm>
          <a:prstGeom prst="roundRect">
            <a:avLst/>
          </a:prstGeom>
          <a:solidFill>
            <a:srgbClr val="10223B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43251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LIFE EVENTS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148840"/>
            <a:ext cx="1005840" cy="59436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38360" y="2148840"/>
            <a:ext cx="0" cy="59436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3474720"/>
            <a:ext cx="640080" cy="68580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961120" y="3474720"/>
            <a:ext cx="777240" cy="68580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49640" y="4892040"/>
            <a:ext cx="0" cy="50292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52578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A623"/>
                </a:solidFill>
                <a:latin typeface="Aptos"/>
              </a:rPr>
              <a:t>New scenario → updated state → next probability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91426"/>
                </a:solidFill>
                <a:latin typeface="Aptos"/>
              </a:rPr>
              <a:t>Proposed Solution: BHARAT — LIVIN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488"/>
                </a:solidFill>
                <a:latin typeface="Aptos"/>
              </a:rPr>
              <a:t>A mobile life-simulation experience built around a reusable data-to-probability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3566160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DATA INGESTION +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3127248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Ingest heterogeneous Indian public/socio-economic sources.
Normalize format, granularity and update frequency into a structured schema usable by the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356616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PROBABILITY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27248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Translate normalized signals into weighted probabilities for branching life events — education, career, income trajectories, mobility and other milestones.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3566160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BRANCHING LIFE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93392"/>
            <a:ext cx="3127248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Use calibrated probabilities to generate decisions and outcomes, update life-stat variables, and re-calibrate as underlying datasets refresh.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1D2"/>
                </a:solidFill>
                <a:latin typeface="Aptos"/>
              </a:rPr>
              <a:t>PLAYER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Education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608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8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Career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4376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4376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67144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7144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Family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9912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Mobility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5285232"/>
            <a:ext cx="13716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80" y="531266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Major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488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6748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How It Works: Data → Probability → Story → Consequence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965960" cy="2560320"/>
          </a:xfrm>
          <a:prstGeom prst="roundRect">
            <a:avLst/>
          </a:prstGeom>
          <a:solidFill>
            <a:srgbClr val="10223B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96596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1D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688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97180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7D5E6"/>
                </a:solidFill>
                <a:latin typeface="Aptos"/>
              </a:rPr>
              <a:t>Census / UDISE+ / PLFS / regional signals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3063240"/>
            <a:ext cx="265176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828800"/>
            <a:ext cx="1965960" cy="2560320"/>
          </a:xfrm>
          <a:prstGeom prst="roundRect">
            <a:avLst/>
          </a:prstGeom>
          <a:solidFill>
            <a:srgbClr val="10223B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26664" y="196596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ADA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4688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97180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7D5E6"/>
                </a:solidFill>
                <a:latin typeface="Aptos"/>
              </a:rPr>
              <a:t>Schema mapping • validation • reconciliation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3752" y="3063240"/>
            <a:ext cx="265176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28800"/>
            <a:ext cx="1965960" cy="2560320"/>
          </a:xfrm>
          <a:prstGeom prst="roundRect">
            <a:avLst/>
          </a:prstGeom>
          <a:solidFill>
            <a:srgbClr val="10223B"/>
          </a:solidFill>
          <a:ln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196596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62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4688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CALIBRATE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97180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7D5E6"/>
                </a:solidFill>
                <a:latin typeface="Aptos"/>
              </a:rPr>
              <a:t>Weighted probabilities + guardrails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59752" y="3063240"/>
            <a:ext cx="265176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1828800"/>
            <a:ext cx="1965960" cy="2560320"/>
          </a:xfrm>
          <a:prstGeom prst="roundRect">
            <a:avLst/>
          </a:prstGeom>
          <a:solidFill>
            <a:srgbClr val="10223B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8664" y="196596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1D2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4688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97180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7D5E6"/>
                </a:solidFill>
                <a:latin typeface="Aptos"/>
              </a:rPr>
              <a:t>Branching decision + outcome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45752" y="3063240"/>
            <a:ext cx="265176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38360" y="1828800"/>
            <a:ext cx="1965960" cy="2560320"/>
          </a:xfrm>
          <a:prstGeom prst="roundRect">
            <a:avLst/>
          </a:prstGeom>
          <a:solidFill>
            <a:srgbClr val="10223B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84664" y="196596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ADA3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4688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971800"/>
            <a:ext cx="1645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7D5E6"/>
                </a:solidFill>
                <a:latin typeface="Aptos"/>
              </a:rPr>
              <a:t>Life-stat changes feed the next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623"/>
                </a:solidFill>
                <a:latin typeface="Aptos"/>
              </a:rPr>
              <a:t>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18888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 regional education signal changes → college-event probabilities change → player chooses → career/finance state updates → future events change.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91426"/>
                </a:solidFill>
                <a:latin typeface="Aptos"/>
              </a:rPr>
              <a:t>What Makes the System Distinct?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488"/>
                </a:solidFill>
                <a:latin typeface="Aptos"/>
              </a:rPr>
              <a:t>The invention disclosure positions the core novelty in the combination — not in the generic idea of a life-simulation game.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8920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987552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4544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In-game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45445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Existing dynamic game systems can adjust variables from player interaction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417320"/>
            <a:ext cx="58064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06440" y="1417320"/>
            <a:ext cx="64008" cy="987552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07607" y="1581912"/>
            <a:ext cx="5458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BHARAT DIFFERENTIATOR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7" y="1993392"/>
            <a:ext cx="54589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Our design: external socio-economic signals are the calibration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60320"/>
            <a:ext cx="48920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560320"/>
            <a:ext cx="64008" cy="987552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724912"/>
            <a:ext cx="4544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Sports/event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36391"/>
            <a:ext cx="45445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Data-trained probabilities exist in other simulation domains.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560320"/>
            <a:ext cx="58064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06440" y="2560320"/>
            <a:ext cx="64008" cy="987552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07607" y="2724912"/>
            <a:ext cx="5458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BHARAT DIFFERENTIATOR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3136391"/>
            <a:ext cx="54589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Our design: life-stage + socio-economic branching + heterogeneous Indian public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48920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703320"/>
            <a:ext cx="64008" cy="987552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867911"/>
            <a:ext cx="4544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Chance/bonus games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279392"/>
            <a:ext cx="45445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Probability modification can be tied to in-game monetary inputs.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703320"/>
            <a:ext cx="58064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06440" y="3703320"/>
            <a:ext cx="64008" cy="987552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07607" y="3867911"/>
            <a:ext cx="5458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BHARAT DIFFERENTIATOR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7" y="4279392"/>
            <a:ext cx="54589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Our design: real-world data drives narrative life outcomes, not payouts.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46320"/>
            <a:ext cx="48920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846320"/>
            <a:ext cx="64008" cy="987552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5010912"/>
            <a:ext cx="4544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Static life sims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422392"/>
            <a:ext cx="45445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Life outcomes can be linked to demographic databases.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4846320"/>
            <a:ext cx="58064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06440" y="4846320"/>
            <a:ext cx="64008" cy="987552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07607" y="5010912"/>
            <a:ext cx="5458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BHARAT DIFFERENTIATOR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7" y="5422392"/>
            <a:ext cx="5458968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Our design: intended dynamic ingestion + normalization + recalibration pipeline.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807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4A623"/>
                </a:solidFill>
                <a:latin typeface="Aptos"/>
              </a:rPr>
              <a:t>IP 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6016752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7488"/>
                </a:solidFill>
                <a:latin typeface="Aptos"/>
              </a:rPr>
              <a:t>Patentability remains subject to formal claim drafting, novelty/inventive-step review and applicable computer-implemented-invention requirements.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488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6748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Prototype: Already Demonstrable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C1D6"/>
                </a:solidFill>
                <a:latin typeface="Aptos"/>
              </a:rPr>
              <a:t>The submitted disclosure reports a 5-screen HTML/CSS/JS front-end prototype; the backend calibration engine is still at architecture/design stage.</a:t>
            </a:r>
          </a:p>
        </p:txBody>
      </p:sp>
      <p:pic>
        <p:nvPicPr>
          <p:cNvPr id="5" name="Picture 4" descr="prototype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23560" cy="4526280"/>
          </a:xfrm>
          <a:prstGeom prst="rect">
            <a:avLst/>
          </a:prstGeom>
        </p:spPr>
      </p:pic>
      <p:pic>
        <p:nvPicPr>
          <p:cNvPr id="6" name="Picture 5" descr="prototype_p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68112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989320"/>
            <a:ext cx="429768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016752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HOME • CAREER • EDUCATION • QUESTS •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5989320"/>
            <a:ext cx="4343400" cy="347472"/>
          </a:xfrm>
          <a:prstGeom prst="roundRect">
            <a:avLst/>
          </a:prstGeom>
          <a:solidFill>
            <a:srgbClr val="16314D"/>
          </a:solidFill>
          <a:ln w="1270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6016752"/>
            <a:ext cx="4343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DYNAMIC ENGINE = NEXT DEVELOPMENT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91426"/>
                </a:solidFill>
                <a:latin typeface="Aptos"/>
              </a:rPr>
              <a:t>Player Journey: A Life Path That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488"/>
                </a:solidFill>
                <a:latin typeface="Aptos"/>
              </a:rPr>
              <a:t>Designed for short mobile sessions, replayability and meaningful consequences.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960120" cy="960120"/>
          </a:xfrm>
          <a:prstGeom prst="ellipse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D"/>
                </a:solidFill>
                <a:latin typeface="Aptos"/>
              </a:rPr>
              <a:t>State • family • education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304288"/>
            <a:ext cx="713232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64991" y="1828800"/>
            <a:ext cx="960120" cy="960120"/>
          </a:xfrm>
          <a:prstGeom prst="ellipse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1" y="212140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19–22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Apto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352044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D"/>
                </a:solidFill>
                <a:latin typeface="Aptos"/>
              </a:rPr>
              <a:t>College • skills • choices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2304288"/>
            <a:ext cx="713233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632704" y="1828800"/>
            <a:ext cx="960120" cy="960120"/>
          </a:xfrm>
          <a:prstGeom prst="ellipse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32704" y="212140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22–25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Aptos"/>
              </a:rPr>
              <a:t>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52044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D"/>
                </a:solidFill>
                <a:latin typeface="Aptos"/>
              </a:rPr>
              <a:t>Job • income • city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38544" y="2304288"/>
            <a:ext cx="713232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900416" y="1828800"/>
            <a:ext cx="960120" cy="960120"/>
          </a:xfrm>
          <a:prstGeom prst="ellipse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0416" y="212140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25–30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Aptos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352044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D"/>
                </a:solidFill>
                <a:latin typeface="Aptos"/>
              </a:rPr>
              <a:t>Savings • relationships • mobility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06256" y="2304288"/>
            <a:ext cx="713232" cy="0"/>
          </a:xfrm>
          <a:prstGeom prst="line">
            <a:avLst/>
          </a:prstGeom>
          <a:ln w="31750">
            <a:solidFill>
              <a:srgbClr val="F4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68128" y="1828800"/>
            <a:ext cx="960120" cy="960120"/>
          </a:xfrm>
          <a:prstGeom prst="ellipse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68128" y="212140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30632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Aptos"/>
              </a:rPr>
              <a:t>CONSEQUENCES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52044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F2B3D"/>
                </a:solidFill>
                <a:latin typeface="Aptos"/>
              </a:rPr>
              <a:t>Long-term life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1D2"/>
                </a:solidFill>
                <a:latin typeface="Aptos"/>
              </a:rPr>
              <a:t>Persistent life-stat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365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67488"/>
                </a:solidFill>
                <a:latin typeface="Aptos"/>
              </a:rPr>
              <a:t>Education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5074920"/>
            <a:ext cx="1554480" cy="2286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43200" y="5074920"/>
            <a:ext cx="1321308" cy="228600"/>
          </a:xfrm>
          <a:prstGeom prst="round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47365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67488"/>
                </a:solidFill>
                <a:latin typeface="Aptos"/>
              </a:rPr>
              <a:t>Career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5074920"/>
            <a:ext cx="1554480" cy="2286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892040" y="5074920"/>
            <a:ext cx="1010412" cy="228600"/>
          </a:xfrm>
          <a:prstGeom prst="round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47365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67488"/>
                </a:solidFill>
                <a:latin typeface="Aptos"/>
              </a:rPr>
              <a:t>Finance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074920"/>
            <a:ext cx="1554480" cy="2286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040880" y="5074920"/>
            <a:ext cx="932688" cy="228600"/>
          </a:xfrm>
          <a:prstGeom prst="round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20" y="47365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67488"/>
                </a:solidFill>
                <a:latin typeface="Aptos"/>
              </a:rPr>
              <a:t>Social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5074920"/>
            <a:ext cx="1554480" cy="2286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89720" y="5074920"/>
            <a:ext cx="854964" cy="228600"/>
          </a:xfrm>
          <a:prstGeom prst="round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488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6748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Design Guardrails: Realism Without Losing Trust or Playability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1143000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Every branching event should map to a verifiable source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64008" cy="1143000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58191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REGIONAL 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99339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Represent state/city-tier diversity without stereotypes or over-generalisation.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3464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34640"/>
            <a:ext cx="64008" cy="114300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9923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PRIVACY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41071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Protect and anonymise user data at every integration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3464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834640"/>
            <a:ext cx="64008" cy="1143000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299923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EXPLAINABLE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41071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Players should understand why a probability shifted.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5196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251960"/>
            <a:ext cx="64008" cy="1143000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41655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LOW-END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82803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Target lightweight mobile performance and patchy connectivity.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5303520" cy="114300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251960"/>
            <a:ext cx="64008" cy="114300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4416552"/>
            <a:ext cx="4956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PLAYER AGENCY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828032"/>
            <a:ext cx="4956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Data shapes probabilities; it should not remove meaningful choice.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4C6DC"/>
                </a:solidFill>
                <a:latin typeface="Aptos"/>
              </a:rPr>
              <a:t>These principles are explicitly identified in the design-thinking report and invention disclosure.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91426"/>
                </a:solidFill>
                <a:latin typeface="Aptos"/>
              </a:rPr>
              <a:t>Feasibility &amp;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488"/>
                </a:solidFill>
                <a:latin typeface="Aptos"/>
              </a:rPr>
              <a:t>The current scope is intentionally lightweight: prove the engine before building a full-scale game.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057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71D2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UI/UX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71800"/>
            <a:ext cx="1691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5 interactive screens
Internal review complete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3200400"/>
            <a:ext cx="201168" cy="0"/>
          </a:xfrm>
          <a:prstGeom prst="line">
            <a:avLst/>
          </a:prstGeom>
          <a:ln w="31750">
            <a:solidFill>
              <a:srgbClr val="09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691640"/>
            <a:ext cx="2057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187451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ADA3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3317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Calibration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971800"/>
            <a:ext cx="1691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Ingest 1–2 datasets
Normalize + rule-based probability 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19471" y="3200400"/>
            <a:ext cx="201169" cy="0"/>
          </a:xfrm>
          <a:prstGeom prst="line">
            <a:avLst/>
          </a:prstGeom>
          <a:ln w="31750">
            <a:solidFill>
              <a:srgbClr val="09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691640"/>
            <a:ext cx="2057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1" y="187451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4A623"/>
                </a:solidFill>
                <a:latin typeface="Aptos"/>
              </a:rPr>
              <a:t>6–10 WEEKS*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3317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Backend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2971800"/>
            <a:ext cx="1691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Functional ingestion → calibration → event loop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51192" y="3200400"/>
            <a:ext cx="201167" cy="0"/>
          </a:xfrm>
          <a:prstGeom prst="line">
            <a:avLst/>
          </a:prstGeom>
          <a:ln w="31750">
            <a:solidFill>
              <a:srgbClr val="09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691640"/>
            <a:ext cx="2057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2A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2671" y="187451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71D2"/>
                </a:solidFill>
                <a:latin typeface="Aptos"/>
              </a:rPr>
              <a:t>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3317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971800"/>
            <a:ext cx="1691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10–15+ structured playtests
Measure usability + engagement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82911" y="3200400"/>
            <a:ext cx="201169" cy="0"/>
          </a:xfrm>
          <a:prstGeom prst="line">
            <a:avLst/>
          </a:prstGeom>
          <a:ln w="31750">
            <a:solidFill>
              <a:srgbClr val="09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1691640"/>
            <a:ext cx="2057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19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94392" y="1874519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ADA3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3317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91426"/>
                </a:solidFill>
                <a:latin typeface="Aptos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971800"/>
            <a:ext cx="1691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B3D"/>
                </a:solidFill>
                <a:latin typeface="Aptos"/>
              </a:rPr>
              <a:t>More states • languages • domains
Android/iOS production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7488"/>
                </a:solidFill>
                <a:latin typeface="Aptos"/>
              </a:rPr>
              <a:t>* The invention disclosure estimates 6–10 weeks for a functional backend prototype, subject to data access and team availability.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488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6748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Why This Matters: One Engine, Multiple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74720" cy="338328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3383280"/>
          </a:xfrm>
          <a:prstGeom prst="rect">
            <a:avLst/>
          </a:prstGeom>
          <a:solidFill>
            <a:srgbClr val="2A7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FOR GAMERS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93392"/>
            <a:ext cx="312724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• Relatable Indian pathways
• Meaningful choices
• Replayability
• Regional authenticity
• Short-session mobile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38328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3383280"/>
          </a:xfrm>
          <a:prstGeom prst="rect">
            <a:avLst/>
          </a:prstGeom>
          <a:solidFill>
            <a:srgbClr val="19A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FOR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12724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• Financial literacy
• Civic awareness
• Career exploration
• Consequence-based learning
• “What-if” experimentation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74720" cy="3383280"/>
          </a:xfrm>
          <a:prstGeom prst="roundRect">
            <a:avLst/>
          </a:prstGeom>
          <a:solidFill>
            <a:srgbClr val="10223B"/>
          </a:solidFill>
          <a:ln w="12700">
            <a:solidFill>
              <a:srgbClr val="2C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64008" cy="3383280"/>
          </a:xfrm>
          <a:prstGeom prst="rect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8191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FOR IPR /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93392"/>
            <a:ext cx="312724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8D5E6"/>
                </a:solidFill>
                <a:latin typeface="Aptos"/>
              </a:rPr>
              <a:t>• Data-to-probability architecture
• Reusable calibration layer
• India-specific data integration
• Expandable across domains
• Potential IP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4A623"/>
                </a:solidFill>
                <a:latin typeface="Aptos"/>
              </a:rPr>
              <a:t>COMMERCIALIZATION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138928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The disclosure identifies Indian gaming, NRI/diaspora users, and ed-tech/CSR organisations as potential markets; it also lists Nazara, WinZO, Games2win, Moonfrog and JetSynthesys as possible commercialization contacts.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623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601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Help us move from a compelling prototype
to a defensible technical demonstrator.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A623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8346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ADA3"/>
                </a:solidFill>
                <a:latin typeface="Aptos"/>
              </a:rPr>
              <a:t>IP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834640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8E8"/>
                </a:solidFill>
                <a:latin typeface="Aptos"/>
              </a:rPr>
              <a:t>Validate claim scope and filing strategy before exposing the core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A623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6118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ADA3"/>
                </a:solidFill>
                <a:latin typeface="Aptos"/>
              </a:rPr>
              <a:t>Data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611880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8E8"/>
                </a:solidFill>
                <a:latin typeface="Aptos"/>
              </a:rPr>
              <a:t>Identify reliable, permissible Indian public datasets / APIs for an MVP.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A623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891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ADA3"/>
                </a:solidFill>
                <a:latin typeface="Aptos"/>
              </a:rPr>
              <a:t>Prototype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389120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8E8"/>
                </a:solidFill>
                <a:latin typeface="Aptos"/>
              </a:rPr>
              <a:t>Build the ingestion + normalization + calibration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A623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1663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ADA3"/>
                </a:solidFill>
                <a:latin typeface="Aptos"/>
              </a:rPr>
              <a:t>Pilot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166360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8E8"/>
                </a:solidFill>
                <a:latin typeface="Aptos"/>
              </a:rPr>
              <a:t>Run structured playtesting and document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4A623"/>
                </a:solidFill>
                <a:latin typeface="Aptos"/>
              </a:rPr>
              <a:t>Core proposition: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6016752"/>
            <a:ext cx="9235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Data-grounded Indian realism + persistent life-state + dynamic branching = a new way to simulate “what if?”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0A2BC"/>
                </a:solidFill>
                <a:latin typeface="Aptos"/>
              </a:rPr>
              <a:t>BHARAT: LIVIN IN INDIA  •  Coordinator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0A2B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1250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Rupak Dey</cp:lastModifiedBy>
  <cp:revision>2</cp:revision>
  <dcterms:created xsi:type="dcterms:W3CDTF">2013-01-27T09:14:16Z</dcterms:created>
  <dcterms:modified xsi:type="dcterms:W3CDTF">2026-10-06T16:09:02Z</dcterms:modified>
  <cp:category/>
</cp:coreProperties>
</file>